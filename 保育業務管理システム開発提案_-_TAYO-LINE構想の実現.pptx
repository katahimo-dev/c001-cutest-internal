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8437" y="1381255"/>
            <a:ext cx="6387099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202C"/>
                </a:solidFill>
              </a:rPr>
              <a:t>保育業務管理システム開発提案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378437" y="2101323"/>
            <a:ext cx="638709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805AD5"/>
                </a:solidFill>
              </a:rPr>
              <a:t>TAYO-LINE構想の実現と本格Webシステム化への道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378437" y="2947857"/>
            <a:ext cx="63870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ご提案先: 株式会社キューテスト 様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378437" y="3219320"/>
            <a:ext cx="63870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2026年2月5日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378437" y="3490782"/>
            <a:ext cx="63870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提案者: かたひも代表 松浦 融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はじめに：チーム「かたひも」の想い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953313"/>
            <a:ext cx="3429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現行のGASツール群を統合し、</a:t>
            </a:r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805AD5"/>
                </a:solidFill>
              </a:rPr>
              <a:t>持続可能で拡張性の高い</a:t>
            </a:r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 本格Webシステムへと進化させます。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947690"/>
            <a:ext cx="3429000" cy="600075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202C"/>
                </a:solidFill>
              </a:rPr>
              <a:t>貴社の業務と現場課題に即した機能を、最短で実装します。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143500" y="1996176"/>
            <a:ext cx="171450" cy="278606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D53F8C"/>
                </a:solidFill>
              </a:rPr>
              <a:t>●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400675" y="1996176"/>
            <a:ext cx="31718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02C"/>
                </a:solidFill>
              </a:rPr>
              <a:t>GASからの脱却と進化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400675" y="2240849"/>
            <a:ext cx="30546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202C"/>
                </a:solidFill>
              </a:rPr>
              <a:t>スプレッドシートの限界を超え、DB基盤へ移行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00675" y="2455162"/>
            <a:ext cx="5572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202C"/>
                </a:solidFill>
              </a:rPr>
              <a:t>します。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43500" y="2789132"/>
            <a:ext cx="171450" cy="278606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D53F8C"/>
                </a:solidFill>
              </a:rPr>
              <a:t>●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5400675" y="2789132"/>
            <a:ext cx="29442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02C"/>
                </a:solidFill>
              </a:rPr>
              <a:t>TAYO-LINE構想の第一歩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5400675" y="3033806"/>
            <a:ext cx="294423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202C"/>
                </a:solidFill>
              </a:rPr>
              <a:t>Lite版を早期提供し、現場負荷を軽減します。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143500" y="3367776"/>
            <a:ext cx="171450" cy="278606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D53F8C"/>
                </a:solidFill>
              </a:rPr>
              <a:t>●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5400675" y="3367776"/>
            <a:ext cx="312469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02C"/>
                </a:solidFill>
              </a:rPr>
              <a:t>パートナーとしての並走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5400675" y="3612449"/>
            <a:ext cx="31246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202C"/>
                </a:solidFill>
              </a:rPr>
              <a:t>事業成長を支える技術パートナーを目指します。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TAYO-LINE構想：総合プラットフォーム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24713"/>
            <a:ext cx="4286250" cy="3214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24713"/>
            <a:ext cx="4286250" cy="32146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43500" y="1724713"/>
            <a:ext cx="3429000" cy="360759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805AD5"/>
                </a:solidFill>
              </a:rPr>
              <a:t>予約・請求・労務をまとめて管理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5143500" y="2228348"/>
            <a:ext cx="3429000" cy="49716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● 総合的なDX支援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 顧客管理から決済、研修メニューまでを一元化。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5143500" y="2725508"/>
            <a:ext cx="3429000" cy="497160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● 社会的インパクト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 シニア・外国人材の活用、産後メンタルヘルスケアの推進。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5143500" y="3436981"/>
            <a:ext cx="2418662" cy="3393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</a:rPr>
              <a:t>シッター利用料決済手数料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7562162" y="3436981"/>
            <a:ext cx="1010338" cy="3393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53F8C"/>
                </a:solidFill>
              </a:rPr>
              <a:t>3%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5143500" y="3776309"/>
            <a:ext cx="2418662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</a:rPr>
              <a:t>月額利用料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7562162" y="3776309"/>
            <a:ext cx="1010338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53F8C"/>
                </a:solidFill>
              </a:rPr>
              <a:t>30,000円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5143500" y="4119209"/>
            <a:ext cx="2418662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</a:rPr>
              <a:t>マッチング手数料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7562162" y="4119209"/>
            <a:ext cx="1010338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53F8C"/>
                </a:solidFill>
              </a:rPr>
              <a:t>2%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06087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本提案の3つの特長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060470"/>
            <a:ext cx="24288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504" dirty="0">
                <a:solidFill>
                  <a:srgbClr val="D53F8C"/>
                </a:solidFill>
              </a:rPr>
              <a:t>01</a:t>
            </a:r>
            <a:endParaRPr lang="en-US" sz="3504" dirty="0"/>
          </a:p>
        </p:txBody>
      </p:sp>
      <p:sp>
        <p:nvSpPr>
          <p:cNvPr id="5" name="Text 2"/>
          <p:cNvSpPr/>
          <p:nvPr/>
        </p:nvSpPr>
        <p:spPr>
          <a:xfrm>
            <a:off x="571500" y="2517670"/>
            <a:ext cx="2428875" cy="6572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圧倒的なコスト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パフォーマンス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3346345"/>
            <a:ext cx="2428875" cy="96574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一般的な開発会社と比較し、仲介手数料や学習コストを排除。予算の大部分を直接開発に充当することで、大幅なコストダウンを実現します。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357563" y="2060470"/>
            <a:ext cx="24288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504" dirty="0">
                <a:solidFill>
                  <a:srgbClr val="D53F8C"/>
                </a:solidFill>
              </a:rPr>
              <a:t>02</a:t>
            </a:r>
            <a:endParaRPr lang="en-US" sz="3504" dirty="0"/>
          </a:p>
        </p:txBody>
      </p:sp>
      <p:sp>
        <p:nvSpPr>
          <p:cNvPr id="8" name="Text 5"/>
          <p:cNvSpPr/>
          <p:nvPr/>
        </p:nvSpPr>
        <p:spPr>
          <a:xfrm>
            <a:off x="3357563" y="2517670"/>
            <a:ext cx="2428875" cy="6572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業務知識による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「使える」システム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3357563" y="3346345"/>
            <a:ext cx="2428875" cy="96574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現行ツールの開発経験から、現場の運用ルールや課題を深く理解。追加のヒアリングコストを最小限に抑え、最短距離で実装します。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143625" y="2060470"/>
            <a:ext cx="24288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504" dirty="0">
                <a:solidFill>
                  <a:srgbClr val="D53F8C"/>
                </a:solidFill>
              </a:rPr>
              <a:t>03</a:t>
            </a:r>
            <a:endParaRPr lang="en-US" sz="3504" dirty="0"/>
          </a:p>
        </p:txBody>
      </p:sp>
      <p:sp>
        <p:nvSpPr>
          <p:cNvPr id="11" name="Text 8"/>
          <p:cNvSpPr/>
          <p:nvPr/>
        </p:nvSpPr>
        <p:spPr>
          <a:xfrm>
            <a:off x="6143625" y="2517670"/>
            <a:ext cx="2428875" cy="6572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柔軟な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「準委任契約」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143625" y="3346345"/>
            <a:ext cx="2428875" cy="96574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「作りながら改善する」アジャイルな手法を採用。月額固定費＋稼働費という体系で、貴社の状況に合わせた無理のない開発が可能です。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システム構造：3階層設計による拡張性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53288"/>
            <a:ext cx="2000250" cy="398264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753288"/>
            <a:ext cx="2000250" cy="398264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第1階層：共通基盤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2771775" y="1753288"/>
            <a:ext cx="58007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システムの土台となる基本機能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771775" y="2003320"/>
            <a:ext cx="5800725" cy="262868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ログイン機能 / 操作ログ・監査機能 / 基本画面部品 / スマホ通知（PWA）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266187"/>
            <a:ext cx="8001000" cy="292894"/>
          </a:xfrm>
          <a:prstGeom prst="rect">
            <a:avLst/>
          </a:prstGeom>
          <a:noFill/>
          <a:ln/>
        </p:spPr>
        <p:txBody>
          <a:bodyPr wrap="none" lIns="935482" tIns="51054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CBD5E0"/>
                </a:solidFill>
              </a:rPr>
              <a:t>▼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571500" y="2644806"/>
            <a:ext cx="2000250" cy="398264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644806"/>
            <a:ext cx="2000250" cy="398264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第2階層：業界共通基盤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2771775" y="2644806"/>
            <a:ext cx="58007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保育・シッター業界の標準機能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2771775" y="2894837"/>
            <a:ext cx="5800725" cy="262868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顧客・児童情報管理 / 訪問先ルート検索 / スタッフ勤怠管理 / 日報・記録生成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3157705"/>
            <a:ext cx="8001000" cy="292894"/>
          </a:xfrm>
          <a:prstGeom prst="rect">
            <a:avLst/>
          </a:prstGeom>
          <a:noFill/>
          <a:ln/>
        </p:spPr>
        <p:txBody>
          <a:bodyPr wrap="none" lIns="935482" tIns="51054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CBD5E0"/>
                </a:solidFill>
              </a:rPr>
              <a:t>▼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571500" y="3536324"/>
            <a:ext cx="2000250" cy="625078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3536324"/>
            <a:ext cx="2000250" cy="62507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第3階層：貴社独自の機能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2771775" y="3536324"/>
            <a:ext cx="58007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キューテスト様の強みを最大化する機能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2771775" y="3786355"/>
            <a:ext cx="5800725" cy="262868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専用業務フロー / Googleカレンダー・LineWorks連携 / 独自の帳票出力フォーマット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4304277"/>
            <a:ext cx="8001000" cy="30718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05AD5"/>
                </a:solidFill>
              </a:rPr>
              <a:t>将来的な他社展開（SaaS化）を見据え、貴社独自の仕様を確保しつつ効率的に再利用可能な設計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特徴的機能：AIによる産後うつ早期発見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581838"/>
            <a:ext cx="4643438" cy="30003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81838"/>
            <a:ext cx="4643438" cy="30003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00688" y="1581838"/>
            <a:ext cx="3071813" cy="32861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805AD5"/>
                </a:solidFill>
              </a:rPr>
              <a:t>シッターの日報からリスクを検知</a:t>
            </a:r>
            <a:endParaRPr lang="en-US" sz="1295" dirty="0"/>
          </a:p>
        </p:txBody>
      </p:sp>
      <p:sp>
        <p:nvSpPr>
          <p:cNvPr id="7" name="Shape 3"/>
          <p:cNvSpPr/>
          <p:nvPr/>
        </p:nvSpPr>
        <p:spPr>
          <a:xfrm>
            <a:off x="5500688" y="1981888"/>
            <a:ext cx="1715979" cy="303609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8" name="Text 4"/>
          <p:cNvSpPr/>
          <p:nvPr/>
        </p:nvSpPr>
        <p:spPr>
          <a:xfrm>
            <a:off x="5500688" y="1981888"/>
            <a:ext cx="1715979" cy="303609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2,000件のデータ収集済み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5500688" y="2456948"/>
            <a:ext cx="142875" cy="2214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05AD5"/>
                </a:solidFill>
              </a:rPr>
              <a:t>●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729288" y="2456948"/>
            <a:ext cx="28432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リスク因子の自動解析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5729288" y="2687334"/>
            <a:ext cx="28235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日報と初期アセスメントをAIが解析し、リスクを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5729288" y="2880215"/>
            <a:ext cx="8872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可視化します。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5500688" y="3149891"/>
            <a:ext cx="142875" cy="2214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05AD5"/>
                </a:solidFill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729288" y="3149891"/>
            <a:ext cx="280964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支援者への的確なアドバイス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5729288" y="3380277"/>
            <a:ext cx="28096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次に取るべき具体的なアクションを提示します。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5500688" y="3649954"/>
            <a:ext cx="142875" cy="2214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05AD5"/>
                </a:solidFill>
              </a:rPr>
              <a:t>●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729288" y="3649954"/>
            <a:ext cx="28432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属人性の排除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5729288" y="3880340"/>
            <a:ext cx="28199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経験に依存せず、一定品質で早期発見を支援しま</a:t>
            </a:r>
            <a:endParaRPr lang="en-US" sz="942" dirty="0"/>
          </a:p>
        </p:txBody>
      </p:sp>
      <p:sp>
        <p:nvSpPr>
          <p:cNvPr id="19" name="Text 15"/>
          <p:cNvSpPr/>
          <p:nvPr/>
        </p:nvSpPr>
        <p:spPr>
          <a:xfrm>
            <a:off x="5729288" y="4073221"/>
            <a:ext cx="2443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す。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開発ロードマップ：段階的リリース計画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53288"/>
            <a:ext cx="8707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05AD5"/>
                </a:solidFill>
              </a:rPr>
              <a:t>Phase 1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442256" y="1817582"/>
            <a:ext cx="1273848" cy="22681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02C"/>
                </a:solidFill>
              </a:rPr>
              <a:t>認証・データ基盤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3830752" y="1867588"/>
            <a:ext cx="6698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718096"/>
                </a:solidFill>
              </a:rPr>
              <a:t>80〜120時間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2137265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ログイン機能リリース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342983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本格データベース（Firebase）への移行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2548700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全モジュールの土台となる共通基盤構築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643438" y="1753288"/>
            <a:ext cx="8707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05AD5"/>
                </a:solidFill>
              </a:rPr>
              <a:t>Phase 2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5514194" y="1817582"/>
            <a:ext cx="1517768" cy="22681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02C"/>
                </a:solidFill>
              </a:rPr>
              <a:t>日報機能モジュール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7902690" y="1867588"/>
            <a:ext cx="6698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718096"/>
                </a:solidFill>
              </a:rPr>
              <a:t>60〜100時間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643438" y="2137265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AI日報生成機能リリース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643438" y="2342983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事故報告・領収書管理機能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643438" y="2548700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スマホ通知（PWA）の実装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2983018"/>
            <a:ext cx="8707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05AD5"/>
                </a:solidFill>
              </a:rPr>
              <a:t>Phase 3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1442256" y="3047312"/>
            <a:ext cx="1832093" cy="22681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02C"/>
                </a:solidFill>
              </a:rPr>
              <a:t>移動経路機能モジュール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3896134" y="3097318"/>
            <a:ext cx="6044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718096"/>
                </a:solidFill>
              </a:rPr>
              <a:t>40〜60時間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71500" y="3366994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経路自動検索機能リリース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71500" y="3572712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翌日の訪問予定をアプリ内で通知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71500" y="3778430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Google Maps API連携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643438" y="2983018"/>
            <a:ext cx="8707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05AD5"/>
                </a:solidFill>
              </a:rPr>
              <a:t>Phase 4</a:t>
            </a:r>
            <a:endParaRPr lang="en-US" sz="1602" dirty="0"/>
          </a:p>
        </p:txBody>
      </p:sp>
      <p:sp>
        <p:nvSpPr>
          <p:cNvPr id="23" name="Text 20"/>
          <p:cNvSpPr/>
          <p:nvPr/>
        </p:nvSpPr>
        <p:spPr>
          <a:xfrm>
            <a:off x="5514194" y="3047312"/>
            <a:ext cx="1674930" cy="22681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02C"/>
                </a:solidFill>
              </a:rPr>
              <a:t>出勤簿機能モジュール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7902690" y="3097318"/>
            <a:ext cx="6698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718096"/>
                </a:solidFill>
              </a:rPr>
              <a:t>80〜100時間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643438" y="3366994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勤怠管理のWebアプリ化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4643438" y="3572712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スタッフによるアプリ上での編集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4643438" y="3778430"/>
            <a:ext cx="39290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社労士提出用の一括エクスポート</a:t>
            </a:r>
            <a:endParaRPr lang="en-US" sz="942" dirty="0"/>
          </a:p>
        </p:txBody>
      </p:sp>
      <p:sp>
        <p:nvSpPr>
          <p:cNvPr id="28" name="Shape 25"/>
          <p:cNvSpPr/>
          <p:nvPr/>
        </p:nvSpPr>
        <p:spPr>
          <a:xfrm>
            <a:off x="0" y="4127023"/>
            <a:ext cx="91440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0" y="4127023"/>
            <a:ext cx="914400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127023"/>
            <a:ext cx="9144000" cy="25717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※ 各フェーズ完了ごとに本番利用を開始できます。想定時間は現行GAS機能の移植を基準とした試算です。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パートナーシップ戦略：SaaS事業化への道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667563"/>
            <a:ext cx="3714750" cy="421481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667563"/>
            <a:ext cx="3714750" cy="421481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株式会社キューテスト（販売元）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2089045"/>
            <a:ext cx="3714750" cy="78006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・SaaSブランドオーナー、販売・契約主体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 ・エンドユーザーとの窓口、営業活動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 ・一次問い合わせ対応、市場ニーズの収集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857750" y="1667563"/>
            <a:ext cx="3714750" cy="421481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8" name="Text 5"/>
          <p:cNvSpPr/>
          <p:nvPr/>
        </p:nvSpPr>
        <p:spPr>
          <a:xfrm>
            <a:off x="4857750" y="1667563"/>
            <a:ext cx="3714750" cy="421481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かたひも（技術パートナー）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857750" y="2089045"/>
            <a:ext cx="3714750" cy="78006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・システム開発・保守・継続的な機能強化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 ・インフラ（Firebase等）の運用サポート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2D3748"/>
                </a:solidFill>
              </a:rPr>
              <a:t> ・技術的な二次サポート、新技術の導入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0" y="3011984"/>
            <a:ext cx="9144000" cy="152697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3011984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126284"/>
            <a:ext cx="80010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D53F8C"/>
                </a:solidFill>
              </a:rPr>
              <a:t>「TAYO-LINE Lite」による早期収益化戦略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571500" y="3438823"/>
            <a:ext cx="4000500" cy="108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742950" y="3533477"/>
            <a:ext cx="14984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805AD5"/>
                </a:solidFill>
              </a:rPr>
              <a:t>Step 01: Lite版リリース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42950" y="3817441"/>
            <a:ext cx="3657600" cy="44291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日報・経路・出勤簿など、現場のコミュニケーション負荷をゼロにする機能を切り出し、低コストで早期市場参入。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572000" y="3438823"/>
            <a:ext cx="4000500" cy="108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743450" y="3533477"/>
            <a:ext cx="17187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805AD5"/>
                </a:solidFill>
              </a:rPr>
              <a:t>Step 02: プラットフォーム化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743450" y="3817441"/>
            <a:ext cx="3657600" cy="44291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Lite版の収益を原資に、予約・決済・マッチング機能を順次開発。業界標準プラットフォームへ進化。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料金体系：柔軟な準委任契約モデル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24713"/>
            <a:ext cx="1867226" cy="378619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724713"/>
            <a:ext cx="1867226" cy="378619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項目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2438726" y="1724713"/>
            <a:ext cx="1714500" cy="378619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7" name="Text 4"/>
          <p:cNvSpPr/>
          <p:nvPr/>
        </p:nvSpPr>
        <p:spPr>
          <a:xfrm>
            <a:off x="2438726" y="1724713"/>
            <a:ext cx="1714500" cy="378619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単価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4153226" y="1724713"/>
            <a:ext cx="4419274" cy="378619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9" name="Text 6"/>
          <p:cNvSpPr/>
          <p:nvPr/>
        </p:nvSpPr>
        <p:spPr>
          <a:xfrm>
            <a:off x="4153226" y="1724713"/>
            <a:ext cx="4419274" cy="378619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備考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2103332"/>
            <a:ext cx="1867226" cy="36790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月額基本料（固定）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438726" y="2103332"/>
            <a:ext cx="1714500" cy="36790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53F8C"/>
                </a:solidFill>
              </a:rPr>
              <a:t>50,000円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153226" y="2103332"/>
            <a:ext cx="4419274" cy="367903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開発環境維持・AIツール・本番環境の構築・監視・保守対応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2471235"/>
            <a:ext cx="1867226" cy="371475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開発稼働単価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2438726" y="2471235"/>
            <a:ext cx="1714500" cy="371475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53F8C"/>
                </a:solidFill>
              </a:rPr>
              <a:t>ご相談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153226" y="2471235"/>
            <a:ext cx="4419274" cy="371475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設計・実装・DB開発・AIプロンプトエンジニアリング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2842710"/>
            <a:ext cx="1867226" cy="371475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事務・調整単価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438726" y="2842710"/>
            <a:ext cx="1714500" cy="371475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53F8C"/>
                </a:solidFill>
              </a:rPr>
              <a:t>ご相談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4153226" y="2842710"/>
            <a:ext cx="4419274" cy="371475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</a:rPr>
              <a:t>MTG・説明・ドキュメント作成・各種連絡調整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71500" y="3446357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805AD5"/>
                </a:solidFill>
              </a:rPr>
              <a:t>柔軟な契約体制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571500" y="3801759"/>
            <a:ext cx="3714750" cy="6743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月額固定費をベースとし、開発ペースやご予算に合わせて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毎月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の稼働時間を調整可能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です。キャッシュフローに合わせた無理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のない開発を実現します。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857750" y="3446357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805AD5"/>
                </a:solidFill>
              </a:rPr>
              <a:t>インフラ・AI利用料（実費）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4857750" y="3801759"/>
            <a:ext cx="3714750" cy="46858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サーバー費用（Google Cloud）やAI利用料は、貴社カードでの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直接決済。仲介手数料なしの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202C"/>
                </a:solidFill>
              </a:rPr>
              <a:t>透明性の高い実費精算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</a:rPr>
              <a:t>となります。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-64294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648937"/>
            <a:ext cx="8572500" cy="49827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保守・サポート・権利関係の透明性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28650" y="1860445"/>
            <a:ext cx="2428875" cy="35004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05AD5"/>
                </a:solidFill>
              </a:rPr>
              <a:t>保守・サポート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628650" y="2381938"/>
            <a:ext cx="2428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02C"/>
                </a:solidFill>
              </a:rPr>
              <a:t>システム維持プラン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628650" y="2589107"/>
            <a:ext cx="2428875" cy="64006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4A5568"/>
                </a:solidFill>
              </a:rPr>
              <a:t>月額 30,000円（固定）。セキュリティ更新、環境維持、監視等の必須メンテナンスを提供。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628650" y="3400620"/>
            <a:ext cx="2428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02C"/>
                </a:solidFill>
              </a:rPr>
              <a:t>瑕疵対応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628650" y="3607789"/>
            <a:ext cx="2428875" cy="44575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4A5568"/>
                </a:solidFill>
              </a:rPr>
              <a:t>本番リリース後6ヶ月以内の開発起因の不具合は無償で対応。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3414713" y="1860445"/>
            <a:ext cx="2428875" cy="35004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05AD5"/>
                </a:solidFill>
              </a:rPr>
              <a:t>知的財産権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414713" y="2381938"/>
            <a:ext cx="2428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02C"/>
                </a:solidFill>
              </a:rPr>
              <a:t>貴社独自の機能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414713" y="2589107"/>
            <a:ext cx="2428875" cy="44575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4A5568"/>
                </a:solidFill>
              </a:rPr>
              <a:t>画面デザインや固有ロジックは貴社に帰属。強みを独占的に確保。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3414713" y="3206316"/>
            <a:ext cx="2428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02C"/>
                </a:solidFill>
              </a:rPr>
              <a:t>共通基盤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414713" y="3413485"/>
            <a:ext cx="2428875" cy="44575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4A5568"/>
                </a:solidFill>
              </a:rPr>
              <a:t>開発者に帰属するが、貴社には永続的かつ包括的な利用権を許諾。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6200775" y="1860445"/>
            <a:ext cx="2428875" cy="35004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05AD5"/>
                </a:solidFill>
              </a:rPr>
              <a:t>事業継続対策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200775" y="2381938"/>
            <a:ext cx="2428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02C"/>
                </a:solidFill>
              </a:rPr>
              <a:t>30日ルール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6200775" y="2589107"/>
            <a:ext cx="2428875" cy="44575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4A5568"/>
                </a:solidFill>
              </a:rPr>
              <a:t>連絡途絶時の権限引き継ぎプロトコルを策定。貴社が全権を掌握可能。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6200775" y="3206316"/>
            <a:ext cx="2428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02C"/>
                </a:solidFill>
              </a:rPr>
              <a:t>成果物の常時共有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6200775" y="3413485"/>
            <a:ext cx="2428875" cy="44575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4A5568"/>
                </a:solidFill>
              </a:rPr>
              <a:t>GitHubやFirebaseの権限を常に共有し、属人性を排除。</a:t>
            </a:r>
            <a:endParaRPr lang="en-US" sz="888" dirty="0"/>
          </a:p>
        </p:txBody>
      </p:sp>
      <p:sp>
        <p:nvSpPr>
          <p:cNvPr id="19" name="Shape 16"/>
          <p:cNvSpPr/>
          <p:nvPr/>
        </p:nvSpPr>
        <p:spPr>
          <a:xfrm>
            <a:off x="57150" y="4339298"/>
            <a:ext cx="9144000" cy="3679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" y="4339298"/>
            <a:ext cx="914400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" y="4339298"/>
            <a:ext cx="9144000" cy="367903"/>
          </a:xfrm>
          <a:prstGeom prst="rect">
            <a:avLst/>
          </a:prstGeom>
          <a:noFill/>
          <a:ln/>
        </p:spPr>
        <p:txBody>
          <a:bodyPr wrap="square" lIns="680339" tIns="204089" rIns="680339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53F8C"/>
                </a:solidFill>
              </a:rPr>
              <a:t>特定の個人に依存しない、持続可能なシステム運用と事業の安全性を保証します。</a:t>
            </a:r>
            <a:endParaRPr lang="en-US" sz="8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81104" y="541586"/>
            <a:ext cx="4781764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05AD5"/>
                </a:solidFill>
              </a:rPr>
              <a:t>ご清聴ありがとうございました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2181104" y="1205787"/>
            <a:ext cx="4781764" cy="520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2862" b="1" dirty="0">
                <a:solidFill>
                  <a:srgbClr val="1A202C"/>
                </a:solidFill>
              </a:rPr>
              <a:t>おわりに：共に創る未来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2181104" y="2125880"/>
            <a:ext cx="4781764" cy="92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69" dirty="0">
                <a:solidFill>
                  <a:srgbClr val="4A5568"/>
                </a:solidFill>
              </a:rPr>
              <a:t>現場の課題解決から、業界標準プラットフォームの構築へ。</a:t>
            </a:r>
            <a:pPr algn="ctr" indent="0" marL="0">
              <a:lnSpc>
                <a:spcPts val="2400"/>
              </a:lnSpc>
              <a:buNone/>
            </a:pPr>
            <a:r>
              <a:rPr lang="en-US" sz="1269" dirty="0">
                <a:solidFill>
                  <a:srgbClr val="4A5568"/>
                </a:solidFill>
              </a:rPr>
              <a:t>
</a:t>
            </a:r>
            <a:pPr algn="ctr" indent="0" marL="0">
              <a:lnSpc>
                <a:spcPts val="2400"/>
              </a:lnSpc>
              <a:buNone/>
            </a:pPr>
            <a:r>
              <a:rPr lang="en-US" sz="1269" dirty="0">
                <a:solidFill>
                  <a:srgbClr val="4A5568"/>
                </a:solidFill>
              </a:rPr>
              <a:t> キューテスト様のビジョンを技術で支えるパートナーとして、</a:t>
            </a:r>
            <a:pPr algn="ctr" indent="0" marL="0">
              <a:lnSpc>
                <a:spcPts val="2400"/>
              </a:lnSpc>
              <a:buNone/>
            </a:pPr>
            <a:r>
              <a:rPr lang="en-US" sz="1269" dirty="0">
                <a:solidFill>
                  <a:srgbClr val="4A5568"/>
                </a:solidFill>
              </a:rPr>
              <a:t>
</a:t>
            </a:r>
            <a:pPr algn="ctr" indent="0" marL="0">
              <a:lnSpc>
                <a:spcPts val="2400"/>
              </a:lnSpc>
              <a:buNone/>
            </a:pPr>
            <a:r>
              <a:rPr lang="en-US" sz="1269" dirty="0">
                <a:solidFill>
                  <a:srgbClr val="4A5568"/>
                </a:solidFill>
              </a:rPr>
              <a:t> 持続可能な成長を共に歩んでいけることを願っております。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2181104" y="3480318"/>
            <a:ext cx="4781764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02C"/>
                </a:solidFill>
              </a:rPr>
              <a:t>かたひも代表：松浦 融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181104" y="3873224"/>
            <a:ext cx="478176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</a:rPr>
              <a:t>メール: matsuura@katahimo.com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181104" y="4223268"/>
            <a:ext cx="4781764" cy="25003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ご不明点やご要望は、お気軽にお申し付けください。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2026-02-04T15:29:36Z</dcterms:created>
  <dcterms:modified xsi:type="dcterms:W3CDTF">2026-02-04T15:29:36Z</dcterms:modified>
</cp:coreProperties>
</file>